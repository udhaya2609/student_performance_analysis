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Correlation Coefficient (r)</c:v>
                </c:pt>
              </c:strCache>
            </c:strRef>
          </c:tx>
          <c:spPr>
            <a:solidFill>
              <a:srgbClr val="2E86C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A252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E86C1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E8449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8E44AD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Reading ↔ Writing</c:v>
                  </c:pt>
                  <c:pt idx="1">
                    <c:v>Math ↔ Reading</c:v>
                  </c:pt>
                  <c:pt idx="2">
                    <c:v>Math ↔ Writing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0.95</c:v>
                </c:pt>
                <c:pt idx="1">
                  <c:v>0.82</c:v>
                </c:pt>
                <c:pt idx="2">
                  <c:v>0.8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A252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A252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17D7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91440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spc="400" kern="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ANALYTICS ON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150876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PERFORMANCE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548640" y="237744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Comprehensive End-to-End Data Analysis Project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2880360"/>
            <a:ext cx="5029200" cy="36576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3063240"/>
            <a:ext cx="8229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Udhaya Kanaga Lakshmi E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No: 23CS001  |  III Year  |  2023–2026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Science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JHA AGARSEN COLLEGE  |  Academic Year: 2025–2026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2286000" cy="256032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37160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1,000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365760" y="224028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65760" y="29260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Size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926080" y="1097280"/>
            <a:ext cx="1234440" cy="548640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26080" y="1097280"/>
            <a:ext cx="1234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389120" y="1097280"/>
            <a:ext cx="1234440" cy="548640"/>
          </a:xfrm>
          <a:prstGeom prst="rect">
            <a:avLst/>
          </a:prstGeom>
          <a:solidFill>
            <a:srgbClr val="0D6EFD"/>
          </a:solidFill>
          <a:ln w="12700">
            <a:solidFill>
              <a:srgbClr val="0D6EF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89120" y="1097280"/>
            <a:ext cx="1234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852160" y="1097280"/>
            <a:ext cx="1234440" cy="54864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852160" y="1097280"/>
            <a:ext cx="1234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315200" y="1097280"/>
            <a:ext cx="1234440" cy="548640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0" y="1097280"/>
            <a:ext cx="1234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926080" y="1691640"/>
            <a:ext cx="5852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17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Industry-Standard Tools Used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926080" y="2057400"/>
            <a:ext cx="58521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presents an end-to-end data analysis of student academic performance. The study integrates four industry-standard tools and reveals significant correlations between demographic factors such as parental education level, socio-economic status, gender, and test preparation course completion on student outcomes in Math, Reading, and Writing.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41148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AED6F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097280"/>
            <a:ext cx="73152" cy="169164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18872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Effectiveness of Preparation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600200"/>
            <a:ext cx="3749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completion of a Test Preparation Course lead to statistically significant score improvements?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09160" y="1097280"/>
            <a:ext cx="41148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AED6F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09160" y="1097280"/>
            <a:ext cx="73152" cy="169164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92040" y="118872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Socio-Economic Impact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92040" y="1600200"/>
            <a:ext cx="3749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what extent do parental education and lunch type correlate with student final scores?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" y="3017520"/>
            <a:ext cx="41148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AED6F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3017520"/>
            <a:ext cx="73152" cy="169164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310896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Gender-Based Performance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" y="3520440"/>
            <a:ext cx="3749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there observable differences in subject-wise performance between male and female students?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709160" y="3017520"/>
            <a:ext cx="41148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AED6F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09160" y="3017520"/>
            <a:ext cx="73152" cy="169164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92040" y="310896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Analysis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92040" y="3520440"/>
            <a:ext cx="3749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strongly are Math, Reading, and Writing scores interlinked with one another?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&amp; METHODOLOGY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4114800" cy="347472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00584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011680" y="1005840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017520" y="1005840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4320" y="1371600"/>
            <a:ext cx="411480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371600"/>
            <a:ext cx="1691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011680" y="1371600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17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Categorical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017520" y="1371600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Male / Female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1719072"/>
            <a:ext cx="4114800" cy="347472"/>
          </a:xfrm>
          <a:prstGeom prst="rect">
            <a:avLst/>
          </a:prstGeom>
          <a:solidFill>
            <a:srgbClr val="EAF2F8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1719072"/>
            <a:ext cx="1691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race/ethnicity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011680" y="1719072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17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Categorical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017520" y="1719072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Groups A–E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2066544"/>
            <a:ext cx="411480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2066544"/>
            <a:ext cx="1691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parental_education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011680" y="2066544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17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Categorical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017520" y="2066544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levels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74320" y="2414016"/>
            <a:ext cx="4114800" cy="347472"/>
          </a:xfrm>
          <a:prstGeom prst="rect">
            <a:avLst/>
          </a:prstGeom>
          <a:solidFill>
            <a:srgbClr val="EAF2F8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2414016"/>
            <a:ext cx="1691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lunch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011680" y="2414016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17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Categorical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017520" y="2414016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/ Reduced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74320" y="2761488"/>
            <a:ext cx="411480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0040" y="2761488"/>
            <a:ext cx="1691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test_prep_course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011680" y="2761488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17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Categorical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017520" y="2761488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 / None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74320" y="3108960"/>
            <a:ext cx="4114800" cy="347472"/>
          </a:xfrm>
          <a:prstGeom prst="rect">
            <a:avLst/>
          </a:prstGeom>
          <a:solidFill>
            <a:srgbClr val="EAF2F8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0040" y="3108960"/>
            <a:ext cx="1691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math_score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2011680" y="3108960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17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Numerical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017520" y="3108960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0–100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274320" y="3456432"/>
            <a:ext cx="411480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0040" y="3456432"/>
            <a:ext cx="1691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reading_score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2011680" y="3456432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17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Numerical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3017520" y="3456432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0–100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274320" y="3803904"/>
            <a:ext cx="4114800" cy="347472"/>
          </a:xfrm>
          <a:prstGeom prst="rect">
            <a:avLst/>
          </a:prstGeom>
          <a:solidFill>
            <a:srgbClr val="EAF2F8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20040" y="3803904"/>
            <a:ext cx="1691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writing_score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2011680" y="3803904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17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Numerical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3017520" y="3803904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0–100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663440" y="100584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PIPELINE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4663440" y="1417320"/>
            <a:ext cx="502920" cy="50292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663440" y="14173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5257800" y="1435608"/>
            <a:ext cx="3566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Ingestion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5257800" y="1673352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7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&amp; inspect dataset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4663440" y="2130552"/>
            <a:ext cx="502920" cy="50292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663440" y="213055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5257800" y="2148840"/>
            <a:ext cx="3566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5257800" y="2386584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7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— remove errors, standardize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4663440" y="2843784"/>
            <a:ext cx="502920" cy="50292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663440" y="284378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51" name="Text 49"/>
          <p:cNvSpPr/>
          <p:nvPr/>
        </p:nvSpPr>
        <p:spPr>
          <a:xfrm>
            <a:off x="5257800" y="2862072"/>
            <a:ext cx="3566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Mgmt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5257800" y="3099816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7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— structured querying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4663440" y="3557016"/>
            <a:ext cx="502920" cy="50292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663440" y="355701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55" name="Text 53"/>
          <p:cNvSpPr/>
          <p:nvPr/>
        </p:nvSpPr>
        <p:spPr>
          <a:xfrm>
            <a:off x="5257800" y="3575304"/>
            <a:ext cx="3566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</a:t>
            </a:r>
            <a:endParaRPr lang="en-US" sz="1200" dirty="0"/>
          </a:p>
        </p:txBody>
      </p:sp>
      <p:sp>
        <p:nvSpPr>
          <p:cNvPr id="56" name="Text 54"/>
          <p:cNvSpPr/>
          <p:nvPr/>
        </p:nvSpPr>
        <p:spPr>
          <a:xfrm>
            <a:off x="5257800" y="3813048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7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— statistical analysis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4663440" y="4270248"/>
            <a:ext cx="502920" cy="50292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663440" y="427024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59" name="Text 57"/>
          <p:cNvSpPr/>
          <p:nvPr/>
        </p:nvSpPr>
        <p:spPr>
          <a:xfrm>
            <a:off x="5257800" y="4288536"/>
            <a:ext cx="3566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</a:t>
            </a:r>
            <a:endParaRPr lang="en-US" sz="1200" dirty="0"/>
          </a:p>
        </p:txBody>
      </p:sp>
      <p:sp>
        <p:nvSpPr>
          <p:cNvPr id="60" name="Text 58"/>
          <p:cNvSpPr/>
          <p:nvPr/>
        </p:nvSpPr>
        <p:spPr>
          <a:xfrm>
            <a:off x="5257800" y="452628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7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— interactive dashboard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26517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AED6F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051560"/>
            <a:ext cx="2651760" cy="45720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0515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 Score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" y="164592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17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645920" y="164592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66.1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11480" y="214884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17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645920" y="214884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11480" y="265176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17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645920" y="265176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11480" y="315468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17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 Dev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645920" y="315468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15.2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3200400" y="1051560"/>
            <a:ext cx="26517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AED6F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00400" y="1051560"/>
            <a:ext cx="2651760" cy="45720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0" y="10515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Score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337560" y="164592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17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0" y="164592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69.2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3337560" y="214884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17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0" y="214884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3337560" y="265176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17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72000" y="265176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3337560" y="315468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17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 Dev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572000" y="315468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14.6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6126480" y="1051560"/>
            <a:ext cx="26517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AED6F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126480" y="1051560"/>
            <a:ext cx="2651760" cy="45720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126480" y="10515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Score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263640" y="164592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17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7498080" y="164592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68.1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6263640" y="214884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17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498080" y="214884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6263640" y="265176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17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7498080" y="265176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6263640" y="315468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17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 Dev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7498080" y="315468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15.2</a:t>
            </a:r>
            <a:endParaRPr lang="en-US" sz="1800" dirty="0"/>
          </a:p>
        </p:txBody>
      </p:sp>
      <p:sp>
        <p:nvSpPr>
          <p:cNvPr id="37" name="Shape 35"/>
          <p:cNvSpPr/>
          <p:nvPr/>
        </p:nvSpPr>
        <p:spPr>
          <a:xfrm>
            <a:off x="274320" y="4069080"/>
            <a:ext cx="8595360" cy="822960"/>
          </a:xfrm>
          <a:prstGeom prst="rect">
            <a:avLst/>
          </a:prstGeom>
          <a:solidFill>
            <a:srgbClr val="EBF5FB"/>
          </a:solidFill>
          <a:ln w="12700">
            <a:solidFill>
              <a:srgbClr val="AED6F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7200" y="416052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Used: </a:t>
            </a:r>
            <a:pPr indent="0" marL="0">
              <a:buNone/>
            </a:pPr>
            <a:r>
              <a:rPr lang="en-US" sz="12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df.describe() for statistical summary  |  Matplotlib for pie charts &amp; bar graphs  |  Seaborn for correlation heatmap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 &amp; FINDINGS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28600" y="1051560"/>
            <a:ext cx="269748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8600" y="1051560"/>
            <a:ext cx="2697480" cy="54864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161288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+8–12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320040" y="1691640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Prep Impact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20040" y="196596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17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who completed test prep scored 8–12 points higher across all three subjects.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154680" y="1051560"/>
            <a:ext cx="269748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154680" y="1051560"/>
            <a:ext cx="2697480" cy="54864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46120" y="1161288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r=0.95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3246120" y="1691640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↔ Writing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246120" y="196596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17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Strongest correlation between subjects — these skills are closely interlinked.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080760" y="1051560"/>
            <a:ext cx="269748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080760" y="1051560"/>
            <a:ext cx="2697480" cy="54864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72200" y="1161288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8E44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r=0.82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6172200" y="1691640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 ↔ Reading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172200" y="196596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17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Moderate-to-strong correlation confirming cross-subject academic ability.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28600" y="2971800"/>
            <a:ext cx="269748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28600" y="2971800"/>
            <a:ext cx="2697480" cy="54864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3081528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320040" y="3611880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Parental Education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20040" y="3886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17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parental education positively correlated with student scores.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154680" y="2971800"/>
            <a:ext cx="269748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154680" y="2971800"/>
            <a:ext cx="2697480" cy="5486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46120" y="3081528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3246120" y="3611880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Socio-Economic Effect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246120" y="3886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17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lunch students outperformed free/reduced lunch students.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080760" y="2971800"/>
            <a:ext cx="269748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080760" y="2971800"/>
            <a:ext cx="2697480" cy="54864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172200" y="3081528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♀&gt;♂</a:t>
            </a:r>
            <a:endParaRPr lang="en-US" sz="2800" dirty="0"/>
          </a:p>
        </p:txBody>
      </p:sp>
      <p:sp>
        <p:nvSpPr>
          <p:cNvPr id="32" name="Text 30"/>
          <p:cNvSpPr/>
          <p:nvPr/>
        </p:nvSpPr>
        <p:spPr>
          <a:xfrm>
            <a:off x="6172200" y="3611880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 Differences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172200" y="3886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17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Females scored higher in Reading &amp; Writing; males slightly higher in Math.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 CORRELATION ANALYSIS</a:t>
            </a:r>
            <a:endParaRPr lang="en-US" sz="2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1005840"/>
          <a:ext cx="530352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943600" y="1097280"/>
            <a:ext cx="28346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943600" y="1097280"/>
            <a:ext cx="73152" cy="109728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126480" y="117043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↔ Writing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126480" y="146304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0.95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6126480" y="187452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7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Strong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943600" y="2377440"/>
            <a:ext cx="28346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943600" y="2377440"/>
            <a:ext cx="73152" cy="1097280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126480" y="245059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 ↔ Reading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6126480" y="274320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0.82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6126480" y="315468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7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5943600" y="3657600"/>
            <a:ext cx="28346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943600" y="3657600"/>
            <a:ext cx="73152" cy="1097280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126480" y="373075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 ↔ Writing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6126480" y="402336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8E44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0.80</a:t>
            </a:r>
            <a:endParaRPr lang="en-US" sz="2200" dirty="0"/>
          </a:p>
        </p:txBody>
      </p:sp>
      <p:sp>
        <p:nvSpPr>
          <p:cNvPr id="19" name="Text 16"/>
          <p:cNvSpPr/>
          <p:nvPr/>
        </p:nvSpPr>
        <p:spPr>
          <a:xfrm>
            <a:off x="6126480" y="443484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7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DASHBOARD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1920240" cy="118872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18872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66.1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274320" y="178308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Math Score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423160" y="1051560"/>
            <a:ext cx="1920240" cy="118872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423160" y="118872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69.2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2423160" y="178308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Reading Score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0" y="1051560"/>
            <a:ext cx="1920240" cy="118872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0" y="118872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68.1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4572000" y="178308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Writing Score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720840" y="1051560"/>
            <a:ext cx="1920240" cy="118872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720840" y="118872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1,000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6720840" y="178308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Students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74320" y="242316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SLICERS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74320" y="2834640"/>
            <a:ext cx="41148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AED6F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4320" y="2834640"/>
            <a:ext cx="64008" cy="50292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2852928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 Slicer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3090672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17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by Male / Female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274320" y="3474720"/>
            <a:ext cx="41148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AED6F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3474720"/>
            <a:ext cx="64008" cy="50292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3493008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Lunch Type Slicer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" y="3730752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17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Socio-economic segmentation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274320" y="4114800"/>
            <a:ext cx="41148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AED6F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74320" y="4114800"/>
            <a:ext cx="64008" cy="50292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4133088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Prep Slicer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57200" y="4370832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17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prepared vs. not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754880" y="242316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VISUALS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4754880" y="2871216"/>
            <a:ext cx="201168" cy="201168"/>
          </a:xfrm>
          <a:prstGeom prst="ellipse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47488" y="283464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Cards — Math, Reading, Writing scores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4754880" y="3300984"/>
            <a:ext cx="201168" cy="201168"/>
          </a:xfrm>
          <a:prstGeom prst="ellipse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47488" y="326440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Charts — Score by parental education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4754880" y="3730752"/>
            <a:ext cx="201168" cy="201168"/>
          </a:xfrm>
          <a:prstGeom prst="ellipse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047488" y="3694176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 Chart — Gender distribution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4754880" y="4160520"/>
            <a:ext cx="201168" cy="201168"/>
          </a:xfrm>
          <a:prstGeom prst="ellipse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047488" y="4123944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Heatmap — Subject correlation matrix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4754880" y="4590288"/>
            <a:ext cx="201168" cy="201168"/>
          </a:xfrm>
          <a:prstGeom prst="ellipse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047488" y="4553712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Comparative bars — Test prep vs no prep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RECOMMENDATIONS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85953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051560"/>
            <a:ext cx="640080" cy="713232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051560"/>
            <a:ext cx="6400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51560" y="112471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Subsidized Test Prep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51560" y="1399032"/>
            <a:ext cx="7680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7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Mandate or subsidize test prep for low socio-economic students to close the performance gap.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" y="1847088"/>
            <a:ext cx="85953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1847088"/>
            <a:ext cx="640080" cy="713232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1847088"/>
            <a:ext cx="6400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51560" y="19202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Parental Engagement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51560" y="2194560"/>
            <a:ext cx="7680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7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family literacy programs and workshops targeting parents with lower education levels.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2642616"/>
            <a:ext cx="85953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" y="2642616"/>
            <a:ext cx="640080" cy="713232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2642616"/>
            <a:ext cx="6400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051560" y="271576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Literacy Support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51560" y="2990088"/>
            <a:ext cx="7680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7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 in reading &amp; writing programs — the r=0.95 correlation amplifies gains across subjects.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74320" y="3438144"/>
            <a:ext cx="85953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74320" y="3438144"/>
            <a:ext cx="640080" cy="713232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3438144"/>
            <a:ext cx="6400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051560" y="3511296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Gender-Responsive Interventions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51560" y="3785616"/>
            <a:ext cx="7680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7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STEM encouragement for females and writing support for males.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74320" y="4233672"/>
            <a:ext cx="85953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74320" y="4233672"/>
            <a:ext cx="640080" cy="71323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" y="4233672"/>
            <a:ext cx="6400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051560" y="4306824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 Monitoring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051560" y="4581144"/>
            <a:ext cx="7680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7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Power BI dashboard for real-time score monitoring with automated alerts.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4572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48640" y="118872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successfully demonstrates how a structured, multi-tool data analytics pipeline can generate meaningful and actionable insights from educational data.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148840"/>
            <a:ext cx="320040" cy="32004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2121408"/>
            <a:ext cx="7406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performance is shaped by preparation, parental education, lunch type, and gender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743200"/>
            <a:ext cx="320040" cy="32004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2715768"/>
            <a:ext cx="7406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and Writing are the most correlated skills (r ≈ 0.95)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3337560"/>
            <a:ext cx="320040" cy="32004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05840" y="3310128"/>
            <a:ext cx="7406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preparation yields an average 8–12 point improvement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3931920"/>
            <a:ext cx="320040" cy="32004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5840" y="3904488"/>
            <a:ext cx="7406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dashboard enables real-time, data-driven school administration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4434840"/>
            <a:ext cx="8046720" cy="36576"/>
          </a:xfrm>
          <a:prstGeom prst="rect">
            <a:avLst/>
          </a:prstGeom>
          <a:solidFill>
            <a:srgbClr val="4A5568"/>
          </a:solidFill>
          <a:ln w="12700">
            <a:solidFill>
              <a:srgbClr val="4A556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45262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17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 by: Udhaya Kanaga Lakshmi E  |  Roll No: 23CS001  |  JHA AGARSEN COLLEGE  |  2025–2026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Analytics on Student Performance</dc:title>
  <dc:subject>PptxGenJS Presentation</dc:subject>
  <dc:creator>PptxGenJS</dc:creator>
  <cp:lastModifiedBy>PptxGenJS</cp:lastModifiedBy>
  <cp:revision>1</cp:revision>
  <dcterms:created xsi:type="dcterms:W3CDTF">2026-03-19T05:52:52Z</dcterms:created>
  <dcterms:modified xsi:type="dcterms:W3CDTF">2026-03-19T05:52:52Z</dcterms:modified>
</cp:coreProperties>
</file>